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7" r:id="rId4"/>
    <p:sldId id="266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5"/>
    <p:restoredTop sz="94678"/>
  </p:normalViewPr>
  <p:slideViewPr>
    <p:cSldViewPr snapToGrid="0">
      <p:cViewPr varScale="1">
        <p:scale>
          <a:sx n="150" d="100"/>
          <a:sy n="150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248F6-FED7-9C4C-A51C-BD98B0D1C5F1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FD13C-3AF1-C44B-AC9C-DBFAA745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0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2754AF-FD56-C8FB-22B5-F15290E7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4877CA2-0E5A-35D2-202F-288EB41A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AC2A5D7-686F-6FE0-D07F-EE9FA4DD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FBDF039-7443-9FAE-B057-0E64143E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736136-C447-BB72-7A33-B616C74D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F96F94-85E5-83BE-2C79-5E74D238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1326D8-CB66-AEF4-AD83-BCAB6FD79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B61432-7C9F-D0F1-992B-5C71A7E4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CFF2B89-FEEC-F736-75BE-A0F025E0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5740791-59D7-EA1A-0856-7D4D27AE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5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1EFE3C-17C3-C917-F099-62CEF738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F966DF6-4E28-13CD-6D53-A9A67064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B08C464-6B68-E386-450B-D3682412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BE2EB4A-BEFD-0A58-2692-EC77E1A8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15A06B0-AFC1-EB09-71D3-02C9DA8A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419D672-4389-9DD1-C7E6-C5D96743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34CC8F7-0545-CB2E-829E-E12561C9A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F466415-EB50-A31A-B148-C4A50BCC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8FCC160-A7B2-EBE3-D2FD-58CC07F9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8F69262-B510-0D99-8A7E-15F16C19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926D9D9-00C2-D694-CA25-638C6985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4DC089-DD35-1BF1-79A6-420BEAAD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CA618D-56E2-FBFA-C36E-A56F45A6E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EB14FDF-5558-D4A7-DD30-783F1E739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42874CE-DBB0-44AB-534F-F2179B125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CC159A1-3DBF-3CDB-1407-8629DC804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0386DAA5-8AF9-A40B-87C6-F962EA41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ACA9E45-BF61-262A-CDB7-6E84AB91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20AF0ED-E26A-5EA9-10E4-4A148061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C37AC07-67B6-7CEE-0902-9319F190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51C49CE-70EB-3165-FD40-91EE375F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95730A3-3BAC-F6C9-FEE5-574437FA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DA7ACE-B9F9-E06D-22A2-64EBAE4E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1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57D2F121-83E3-C35F-64C6-747093EB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6C56DED-FB25-7A3B-ED7D-FAAE0B75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EB6D90A-9586-3AEA-DB52-B22CE9E8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9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B2A01E5-9E5B-C417-29AF-C0F31C52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ECCD4B2-1B8E-F90B-1987-DB6A8DF1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93E80-610D-A20C-3C32-A3834BC8E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E5C0FF0-81CD-D225-52F3-49B7402C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5DDF1AF-4D8A-9CFB-7041-65F9020D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69BAC2-FEFA-1AEE-AC8E-322D889A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43FDE1-E4F0-BE84-D497-E31F12FB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2F94E66-738E-D4A5-5FD2-992CA379A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759ADA2-69EC-EC1E-B00B-9800F465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F7332BF-463B-37A5-66B5-40E75ED1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99EFADD-EBA6-D139-3355-8A0E5690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DF5D66E-E9E6-9A73-5FEF-35AC7F17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8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E27151-CAEE-378E-C051-5683B23F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4F755C8-7F7D-F64D-656E-0A80F06E3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4B127D-2B9C-899D-EAAB-90C66652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A92003E-8F2B-1F73-9CFA-5124D819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2BFE605-2F2C-168B-CB52-07260E20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C77972E-7662-9401-9BA7-F6CE0491D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73C3645-9EC6-56BE-0CE4-A69EA2DE9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7F7B593-68AC-29AC-7A0B-8ACC2FA0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D7ADCA-4193-C443-D753-9A63CE56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71AE55D-B697-E802-9069-7ED20260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16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64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96A776F-6E4E-2CE1-3D3F-C8646C96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EF6E677-EE71-8535-F12A-03BF2EC9B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4478A2-99B9-B187-E74C-736DE195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664B-0111-A440-8826-1F32B9E11B1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D602458-DD98-96B3-21B2-5C3A9D98F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AE54DF5-00A2-C6E0-B97A-79C8B752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objekt 4" descr="Pitteam som arbetar på gul racerbil">
            <a:extLst>
              <a:ext uri="{FF2B5EF4-FFF2-40B4-BE49-F238E27FC236}">
                <a16:creationId xmlns:a16="http://schemas.microsoft.com/office/drawing/2014/main" id="{833AD628-C872-A7B6-3110-E38777DB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5" r="23298" b="181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EDD98D7-BD4E-BB1B-E08E-9C4C59069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lvl="0" algn="l"/>
            <a:r>
              <a:rPr lang="sv-SE" sz="4400" dirty="0" err="1">
                <a:solidFill>
                  <a:schemeClr val="bg1"/>
                </a:solidFill>
              </a:rPr>
              <a:t>OptiGrid</a:t>
            </a:r>
            <a:r>
              <a:rPr lang="sv-SE" sz="4400" dirty="0">
                <a:solidFill>
                  <a:schemeClr val="bg1"/>
                </a:solidFill>
              </a:rPr>
              <a:t> </a:t>
            </a:r>
            <a:br>
              <a:rPr lang="sv-SE" sz="4400" dirty="0">
                <a:solidFill>
                  <a:schemeClr val="bg1"/>
                </a:solidFill>
              </a:rPr>
            </a:br>
            <a:r>
              <a:rPr lang="sv-SE" sz="2200" dirty="0" err="1">
                <a:solidFill>
                  <a:schemeClr val="bg1"/>
                </a:solidFill>
              </a:rPr>
              <a:t>Constrained</a:t>
            </a:r>
            <a:r>
              <a:rPr lang="sv-SE" sz="2200" dirty="0">
                <a:solidFill>
                  <a:schemeClr val="bg1"/>
                </a:solidFill>
              </a:rPr>
              <a:t> </a:t>
            </a:r>
            <a:r>
              <a:rPr lang="sv-SE" sz="2200" dirty="0" err="1">
                <a:solidFill>
                  <a:schemeClr val="bg1"/>
                </a:solidFill>
              </a:rPr>
              <a:t>Optimization</a:t>
            </a:r>
            <a:r>
              <a:rPr lang="sv-SE" sz="2200" dirty="0">
                <a:solidFill>
                  <a:schemeClr val="bg1"/>
                </a:solidFill>
              </a:rPr>
              <a:t> and Visual Risk </a:t>
            </a:r>
            <a:r>
              <a:rPr lang="sv-SE" sz="2200" dirty="0" err="1">
                <a:solidFill>
                  <a:schemeClr val="bg1"/>
                </a:solidFill>
              </a:rPr>
              <a:t>Profiling</a:t>
            </a:r>
            <a:r>
              <a:rPr lang="sv-SE" sz="2200" dirty="0">
                <a:solidFill>
                  <a:schemeClr val="bg1"/>
                </a:solidFill>
              </a:rPr>
              <a:t> for F1 Fantasy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2C3DEA7-7F31-B76B-F647-4D33C1400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300" dirty="0">
                <a:solidFill>
                  <a:schemeClr val="bg1"/>
                </a:solidFill>
              </a:rPr>
              <a:t>Project in Visualization - 4DT911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Jesper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Emil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Samuel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46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8655" cy="713232"/>
          </a:xfrm>
          <a:prstGeom prst="roundRect">
            <a:avLst>
              <a:gd name="adj" fmla="val 1025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" cy="7132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160020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immediate point production against volatile market dynamics under a hard cost cap.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33472"/>
            <a:ext cx="5240884" cy="3721608"/>
          </a:xfrm>
          <a:prstGeom prst="roundRect">
            <a:avLst>
              <a:gd name="adj" fmla="val 368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4509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managers dilemma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3717036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tmp/claude-0/-home-claude/b2311cbb-b2b3-5a1a-8631-333a9abf1a73/scratchpad/pptx/icons/r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8633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920240" y="3726180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Roster Constraints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7280" y="4530852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claude-0/-home-claude/b2311cbb-b2b3-5a1a-8631-333a9abf1a73/scratchpad/pptx/icons/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67715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920240" y="4539996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Dual-Objective Trade-off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097280" y="5344668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tmp/claude-0/-home-claude/b2311cbb-b2b3-5a1a-8631-333a9abf1a73/scratchpad/pptx/icons/transf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54909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5353812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Friction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9292" y="2633472"/>
            <a:ext cx="5240884" cy="3721608"/>
          </a:xfrm>
          <a:prstGeom prst="roundRect">
            <a:avLst>
              <a:gd name="adj" fmla="val 3686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19292" y="26334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585052" y="2926080"/>
            <a:ext cx="4509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challenge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585052" y="3717036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/tmp/claude-0/-home-claude/b2311cbb-b2b3-5a1a-8631-333a9abf1a73/scratchpad/pptx/icons/ave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356" y="38633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8012" y="3726180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Trap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85052" y="4530852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tmp/claude-0/-home-claude/b2311cbb-b2b3-5a1a-8631-333a9abf1a73/scratchpad/pptx/icons/multimo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356" y="46771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08012" y="4539996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Variables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585052" y="5344668"/>
            <a:ext cx="566928" cy="566928"/>
          </a:xfrm>
          <a:prstGeom prst="ellipse">
            <a:avLst/>
          </a:prstGeom>
          <a:solidFill>
            <a:srgbClr val="2E2E2E"/>
          </a:solidFill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/tmp/claude-0/-home-claude/b2311cbb-b2b3-5a1a-8631-333a9abf1a73/scratchpad/pptx/icons/ri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356" y="549097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408012" y="5353812"/>
            <a:ext cx="368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421892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historical data with dynamic fantasy market economics.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185416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218541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DATA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Ergast F1 Historical Archive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05840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33856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1950–Present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constructor, and race-level historical records.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90034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90034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4354" y="2185416"/>
            <a:ext cx="1700784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664354" y="21854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SCORING LAYER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64354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Fantasy Game Data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664354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92370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Weekly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4354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664354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pricing, ownership, and scoring dynamics.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48549" y="1965960"/>
            <a:ext cx="3411626" cy="2700000"/>
          </a:xfrm>
          <a:prstGeom prst="roundRect">
            <a:avLst>
              <a:gd name="adj" fmla="val 375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8549" y="1965960"/>
            <a:ext cx="3411626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2869" y="2185416"/>
            <a:ext cx="1252728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322869" y="2185416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2869" y="2606040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OpenF1 API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322869" y="3136392"/>
            <a:ext cx="2862986" cy="420624"/>
          </a:xfrm>
          <a:prstGeom prst="roundRect">
            <a:avLst>
              <a:gd name="adj" fmla="val 17391"/>
            </a:avLst>
          </a:prstGeom>
          <a:solidFill>
            <a:srgbClr val="353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450885" y="3136392"/>
            <a:ext cx="26069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22869" y="3739896"/>
            <a:ext cx="286298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322869" y="3886200"/>
            <a:ext cx="28629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 tire, and track-evolution telemetry.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5778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Generalizability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24712"/>
            <a:ext cx="10728655" cy="420624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29387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124712"/>
            <a:ext cx="9997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fantasy managers to probabilistic modeling across sports and finance.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5240884" cy="3968496"/>
          </a:xfrm>
          <a:prstGeom prst="roundRect">
            <a:avLst>
              <a:gd name="adj" fmla="val 341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947672"/>
            <a:ext cx="1380744" cy="256032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194767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76856"/>
            <a:ext cx="469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0720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tmp/claude-0/-home-claude/b2311cbb-b2b3-5a1a-8631-333a9abf1a73/scratchpad/pptx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889504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81328" y="279806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Fantasy Managers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3035808"/>
            <a:ext cx="4216756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and competitive players seeking data-driven transfers, budget maximization, and automated lineup optimization to climb league standings.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05840" y="3643884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tmp/claude-0/-home-claude/b2311cbb-b2b3-5a1a-8631-333a9abf1a73/scratchpad/pptx/icons/co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726180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81328" y="3634740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Bettors &amp; Wagering Analysts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481328" y="3872484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Bettors looking for probabilistic finish projections, head-to-head match-up edges, and objective value lines against public odds.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005840" y="433882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claude-0/-home-claude/b2311cbb-b2b3-5a1a-8631-333a9abf1a73/scratchpad/pptx/icons/binocul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421124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81328" y="432968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Motorsport Fans &amp; Data Enthusiasts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481328" y="4567428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followers wanting interactive visual comparisons of car pace vs. driver skill and cost-efficiency benchmarks (PPM).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9292" y="1764792"/>
            <a:ext cx="5240884" cy="3968496"/>
          </a:xfrm>
          <a:prstGeom prst="roundRect">
            <a:avLst>
              <a:gd name="adj" fmla="val 341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219292" y="176479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93612" y="19476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6493612" y="19476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493612" y="2276856"/>
            <a:ext cx="469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 &amp; Cross-Domain Impact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493612" y="2807208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/tmp/claude-0/-home-claude/b2311cbb-b2b3-5a1a-8631-333a9abf1a73/scratchpad/pptx/icons/gamep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08" y="2889504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69100" y="2798064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Fantasy Sports 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969100" y="3035808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combinatorial optimizer could translate to Premier League Fantasy and NFL Fantasy leagues.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93612" y="3502152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/tmp/claude-0/-home-claude/b2311cbb-b2b3-5a1a-8631-333a9abf1a73/scratchpad/pptx/icons/percent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908" y="3584448"/>
            <a:ext cx="164592" cy="16459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969100" y="3493008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Wagering &amp; Oddsmaking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69100" y="3730752"/>
            <a:ext cx="42167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 modeling (P10, P50, P90) can compute true fair-value odds, identify mispriced markets, and calculate risk margins.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493612" y="4197096"/>
            <a:ext cx="329184" cy="329184"/>
          </a:xfrm>
          <a:prstGeom prst="ellipse">
            <a:avLst/>
          </a:prstGeom>
          <a:solidFill>
            <a:srgbClr val="353535"/>
          </a:solidFill>
          <a:ln w="1587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/tmp/claude-0/-home-claude/b2311cbb-b2b3-5a1a-8631-333a9abf1a73/scratchpad/pptx/icons/land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908" y="4279392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969100" y="4187952"/>
            <a:ext cx="4216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Portfolio Allocation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6969100" y="4425696"/>
            <a:ext cx="4216756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volatile, high-return assets with stable budget-enablers under a fixed ceiling mirrors classic portfolio construction.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1: Historical Racing Archive (Ergast)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F1 history (1950–Present)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6,500,563 Data 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591056"/>
            <a:ext cx="2036064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17520" y="1591056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Relational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8176" y="1591056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218176" y="15910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Backbone: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relational tables linked by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constructorId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Tables: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lap_times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(882k rows / 5.3M points),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(27.5k rows),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driver_standings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(35.7k rows), and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pit_stops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(22.7k rows).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Types: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coordinates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ordinal finishing ranks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categorical status codes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1,707 duplicate rows found in 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lap_times.csv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to be expected</a:t>
            </a:r>
          </a:p>
          <a:p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values.</a:t>
            </a:r>
          </a:p>
          <a:p>
            <a:pPr marL="0" indent="0">
              <a:buNone/>
            </a:pPr>
            <a:endParaRPr lang="en-US" sz="1400" dirty="0">
              <a:solidFill>
                <a:srgbClr val="C9C9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C9C9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 Dynamic Game Economics (F1 Fantasy)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metrics spanning 2022 to the present.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2022–Present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9424" y="1591056"/>
            <a:ext cx="2036064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249424" y="1591056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Temporal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0080" y="1591056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50080" y="159105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Valuations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Universe: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valuations for 22 active drivers and 11 constructors.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Dimensions: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continuous pricing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total fantasy points, and ownership percentages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selected_by_pct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distribution in pricing: premium anchor assets ($25M–$35M) vs. budget enablers ($5M–$10M).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 in ownership percentage driven by recent race form and track matchups.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with zero missing cells across active records.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driver acronyms/codes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align with Ergast's historical 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driverRef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schema.</a:t>
            </a:r>
            <a:endParaRPr lang="en-US" sz="14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351E5EBE-0EA6-80C4-3B34-A396DDA513C7}"/>
              </a:ext>
            </a:extLst>
          </p:cNvPr>
          <p:cNvSpPr/>
          <p:nvPr/>
        </p:nvSpPr>
        <p:spPr>
          <a:xfrm>
            <a:off x="6448196" y="1599562"/>
            <a:ext cx="1208140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90304073-31FB-B23D-B2B4-652EF5FC357D}"/>
              </a:ext>
            </a:extLst>
          </p:cNvPr>
          <p:cNvSpPr txBox="1"/>
          <p:nvPr/>
        </p:nvSpPr>
        <p:spPr>
          <a:xfrm>
            <a:off x="6480048" y="1637989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Data Points 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667512" cy="7315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5120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3: Real-Time Session Telemetry (OpenF1)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10728655" cy="384048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175004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1024128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Micro-temporal and track-level telemetry capturing active racing conditions.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59105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591056"/>
            <a:ext cx="229209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61488" y="1591056"/>
            <a:ext cx="2292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Telemetry Dimensions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8176" y="1591056"/>
            <a:ext cx="1780032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218176" y="1591056"/>
            <a:ext cx="1780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Micro-Spatial GPS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24128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Entity 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Variables: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temperature, air temperature, humidity, rainfall indicators, and wind vectors.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Granularity: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Sector-by-sector time splits (</a:t>
            </a: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segments_sector_1/2/3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speed trap readings, and pit-lane state flags (</a:t>
            </a:r>
            <a:r>
              <a:rPr lang="en-US" sz="1400" dirty="0" err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is_pit_out_lap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9292" y="2176272"/>
            <a:ext cx="5240884" cy="3538728"/>
          </a:xfrm>
          <a:prstGeom prst="roundRect">
            <a:avLst>
              <a:gd name="adj" fmla="val 3618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9292" y="2176272"/>
            <a:ext cx="5240884" cy="5486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1900" y="2395728"/>
            <a:ext cx="4655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1900" y="2798064"/>
            <a:ext cx="46556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Micro-temporal: sub-second telemetry synchronized against official session elapsed clocks.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Micro-spatial: track coordinate mapping along physical race circuit sectors.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cells resulting from pit exit out-laps prior to official timing line activation.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8C99596-F802-9491-D031-F925C2A4F84C}"/>
              </a:ext>
            </a:extLst>
          </p:cNvPr>
          <p:cNvSpPr/>
          <p:nvPr/>
        </p:nvSpPr>
        <p:spPr>
          <a:xfrm>
            <a:off x="7162800" y="1595670"/>
            <a:ext cx="1600696" cy="365760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04C8AF3F-DCE1-BF97-CEEA-6D2F27860A3B}"/>
              </a:ext>
            </a:extLst>
          </p:cNvPr>
          <p:cNvSpPr txBox="1"/>
          <p:nvPr/>
        </p:nvSpPr>
        <p:spPr>
          <a:xfrm>
            <a:off x="7194652" y="1634097"/>
            <a:ext cx="1568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2,341,250 Data Points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1350</TotalTime>
  <Words>694</Words>
  <Application>Microsoft Macintosh PowerPoint</Application>
  <PresentationFormat>Bredbild</PresentationFormat>
  <Paragraphs>102</Paragraphs>
  <Slides>7</Slides>
  <Notes>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Office-tema</vt:lpstr>
      <vt:lpstr>OptiGrid  Constrained Optimization and Visual Risk Profiling for F1 Fantasy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Wingren</dc:creator>
  <cp:lastModifiedBy>Jesper Wingren</cp:lastModifiedBy>
  <cp:revision>94</cp:revision>
  <dcterms:created xsi:type="dcterms:W3CDTF">2026-09-16T12:25:47Z</dcterms:created>
  <dcterms:modified xsi:type="dcterms:W3CDTF">2026-09-27T12:07:29Z</dcterms:modified>
</cp:coreProperties>
</file>