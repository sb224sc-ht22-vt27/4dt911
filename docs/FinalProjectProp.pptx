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7" r:id="rId3"/>
    <p:sldId id="258" r:id="rId4"/>
    <p:sldId id="268" r:id="rId5"/>
    <p:sldId id="269" r:id="rId6"/>
    <p:sldId id="270" r:id="rId7"/>
    <p:sldId id="271" r:id="rId8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577"/>
    <p:restoredTop sz="94631"/>
  </p:normalViewPr>
  <p:slideViewPr>
    <p:cSldViewPr snapToGrid="0">
      <p:cViewPr varScale="1">
        <p:scale>
          <a:sx n="106" d="100"/>
          <a:sy n="106" d="100"/>
        </p:scale>
        <p:origin x="192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5248F6-FED7-9C4C-A51C-BD98B0D1C5F1}" type="datetimeFigureOut">
              <a:rPr lang="en-US" smtClean="0"/>
              <a:t>9/28/26</a:t>
            </a:fld>
            <a:endParaRPr lang="en-US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EFD13C-3AF1-C44B-AC9C-DBFAA7453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000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E94E2-8909-9B96-2B64-EDA5F4DAC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B4782D-0A75-4053-5C6E-6FBD10A658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7DC91A-9EA6-5512-0D78-BE2D57C8A9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C2A39-B096-97DB-AB84-B12A9BD8F9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86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59D46-2F64-3C11-2CA9-7C78B6856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384617-7F16-7436-998B-7ABB65D39B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28A940-E290-985C-86D3-534BEDB2C1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2A3364-4E41-41F6-D3CF-3ED81D6342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4216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67BDD-397E-D30C-6C0A-F2E4ABA61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251F13-6AF3-EAD1-E4C6-8315DED4E2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CFC13E-DD3C-5D51-4E55-4B98D9645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0656E2-E8DB-B335-17C5-EE32BA4D6B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5600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69DAC-B885-CE2F-F26F-E44142875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8B8161-5066-C309-7E77-B3BC22FC30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894007-33A6-D24C-5322-F0B8080B49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F4FBB-1972-1B80-0C7A-ECB20E288B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758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62754AF-FD56-C8FB-22B5-F15290E721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A4877CA2-0E5A-35D2-202F-288EB41A6F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  <a:endParaRPr lang="en-US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FAC2A5D7-686F-6FE0-D07F-EE9FA4DD8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1664B-0111-A440-8826-1F32B9E11B1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BFBDF039-7443-9FAE-B057-0E64143E0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59736136-C447-BB72-7A33-B616C74DC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C53B1-AA12-CF4F-A87A-9EF7B10AB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354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3F96F94-85E5-83BE-2C79-5E74D2385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4C1326D8-CB66-AEF4-AD83-BCAB6FD79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43B61432-7C9F-D0F1-992B-5C71A7E4A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1664B-0111-A440-8826-1F32B9E11B1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0CFF2B89-FEEC-F736-75BE-A0F025E0E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55740791-59D7-EA1A-0856-7D4D27AE9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C53B1-AA12-CF4F-A87A-9EF7B10AB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656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71EFE3C-17C3-C917-F099-62CEF7389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1F966DF6-4E28-13CD-6D53-A9A67064C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2B08C464-6B68-E386-450B-D3682412F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1664B-0111-A440-8826-1F32B9E11B1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CBE2EB4A-BEFD-0A58-2692-EC77E1A86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A15A06B0-AFC1-EB09-71D3-02C9DA8A6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C53B1-AA12-CF4F-A87A-9EF7B10AB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048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419D672-4389-9DD1-C7E6-C5D967437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A34CC8F7-0545-CB2E-829E-E12561C9A5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AF466415-EB50-A31A-B148-C4A50BCC72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C8FCC160-A7B2-EBE3-D2FD-58CC07F96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1664B-0111-A440-8826-1F32B9E11B1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68F69262-B510-0D99-8A7E-15F16C190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9926D9D9-00C2-D694-CA25-638C69851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C53B1-AA12-CF4F-A87A-9EF7B10AB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059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84DC089-DD35-1BF1-79A6-420BEAADB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7DCA618D-56E2-FBFA-C36E-A56F45A6E5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AEB14FDF-5558-D4A7-DD30-783F1E739E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D42874CE-DBB0-44AB-534F-F2179B1255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FCC159A1-3DBF-3CDB-1407-8629DC8043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7" name="Platshållare för datum 6">
            <a:extLst>
              <a:ext uri="{FF2B5EF4-FFF2-40B4-BE49-F238E27FC236}">
                <a16:creationId xmlns:a16="http://schemas.microsoft.com/office/drawing/2014/main" id="{0386DAA5-8AF9-A40B-87C6-F962EA417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1664B-0111-A440-8826-1F32B9E11B1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8" name="Platshållare för sidfot 7">
            <a:extLst>
              <a:ext uri="{FF2B5EF4-FFF2-40B4-BE49-F238E27FC236}">
                <a16:creationId xmlns:a16="http://schemas.microsoft.com/office/drawing/2014/main" id="{AACA9E45-BF61-262A-CDB7-6E84AB91D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latshållare för bildnummer 8">
            <a:extLst>
              <a:ext uri="{FF2B5EF4-FFF2-40B4-BE49-F238E27FC236}">
                <a16:creationId xmlns:a16="http://schemas.microsoft.com/office/drawing/2014/main" id="{520AF0ED-E26A-5EA9-10E4-4A148061A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C53B1-AA12-CF4F-A87A-9EF7B10AB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956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C37AC07-67B6-7CEE-0902-9319F1902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051C49CE-70EB-3165-FD40-91EE375FB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1664B-0111-A440-8826-1F32B9E11B1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295730A3-3BAC-F6C9-FEE5-574437FAC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C4DA7ACE-B9F9-E06D-22A2-64EBAE4E6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C53B1-AA12-CF4F-A87A-9EF7B10AB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717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57D2F121-83E3-C35F-64C6-747093EB8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1664B-0111-A440-8826-1F32B9E11B1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86C56DED-FB25-7A3B-ED7D-FAAE0B75F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FEB6D90A-9586-3AEA-DB52-B22CE9E81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C53B1-AA12-CF4F-A87A-9EF7B10AB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990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B2A01E5-9E5B-C417-29AF-C0F31C523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2ECCD4B2-1B8E-F90B-1987-DB6A8DF10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F3D93E80-610D-A20C-3C32-A3834BC8E6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8E5C0FF0-81CD-D225-52F3-49B7402C6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1664B-0111-A440-8826-1F32B9E11B1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D5DDF1AF-4D8A-9CFB-7041-65F9020D1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8969BAC2-FEFA-1AEE-AC8E-322D889A0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C53B1-AA12-CF4F-A87A-9EF7B10AB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312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043FDE1-E4F0-BE84-D497-E31F12FBC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72F94E66-738E-D4A5-5FD2-992CA379A9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1759ADA2-69EC-EC1E-B00B-9800F465F5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5F7332BF-463B-37A5-66B5-40E75ED1B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1664B-0111-A440-8826-1F32B9E11B1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599EFADD-EBA6-D139-3355-8A0E5690C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EDF5D66E-E9E6-9A73-5FEF-35AC7F177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C53B1-AA12-CF4F-A87A-9EF7B10AB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482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BE27151-CAEE-378E-C051-5683B23F5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44F755C8-7F7D-F64D-656E-0A80F06E31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64B127D-2B9C-899D-EAAB-90C666521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1664B-0111-A440-8826-1F32B9E11B1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AA92003E-8F2B-1F73-9CFA-5124D8191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62BFE605-2F2C-168B-CB52-07260E20C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C53B1-AA12-CF4F-A87A-9EF7B10AB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12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>
            <a:extLst>
              <a:ext uri="{FF2B5EF4-FFF2-40B4-BE49-F238E27FC236}">
                <a16:creationId xmlns:a16="http://schemas.microsoft.com/office/drawing/2014/main" id="{8C77972E-7662-9401-9BA7-F6CE0491DC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073C3645-9EC6-56BE-0CE4-A69EA2DE9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77F7B593-68AC-29AC-7A0B-8ACC2FA0B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1664B-0111-A440-8826-1F32B9E11B1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D0D7ADCA-4193-C443-D753-9A63CE564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871AE55D-B697-E802-9069-7ED20260C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C53B1-AA12-CF4F-A87A-9EF7B10AB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5160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646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A96A776F-6E4E-2CE1-3D3F-C8646C967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5EF6E677-EE71-8535-F12A-03BF2EC9B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54478A2-99B9-B187-E74C-736DE195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B1664B-0111-A440-8826-1F32B9E11B1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5D602458-DD98-96B3-21B2-5C3A9D98FE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7AE54DF5-00A2-C6E0-B97A-79C8B752B0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DC53B1-AA12-CF4F-A87A-9EF7B10AB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347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Bildobjekt 4" descr="Pitteam som arbetar på gul racerbil">
            <a:extLst>
              <a:ext uri="{FF2B5EF4-FFF2-40B4-BE49-F238E27FC236}">
                <a16:creationId xmlns:a16="http://schemas.microsoft.com/office/drawing/2014/main" id="{833AD628-C872-A7B6-3110-E38777DBC2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275" r="23298" b="1816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5EDD98D7-BD4E-BB1B-E08E-9C4C59069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lvl="0" algn="l"/>
            <a:r>
              <a:rPr lang="sv-SE" sz="4400" dirty="0" err="1">
                <a:solidFill>
                  <a:schemeClr val="bg1"/>
                </a:solidFill>
              </a:rPr>
              <a:t>OptiGrid</a:t>
            </a:r>
            <a:r>
              <a:rPr lang="sv-SE" sz="4400" dirty="0">
                <a:solidFill>
                  <a:schemeClr val="bg1"/>
                </a:solidFill>
              </a:rPr>
              <a:t> </a:t>
            </a:r>
            <a:br>
              <a:rPr lang="sv-SE" sz="4400" dirty="0">
                <a:solidFill>
                  <a:schemeClr val="bg1"/>
                </a:solidFill>
              </a:rPr>
            </a:br>
            <a:r>
              <a:rPr lang="sv-SE" sz="2200" dirty="0" err="1">
                <a:solidFill>
                  <a:schemeClr val="bg1"/>
                </a:solidFill>
              </a:rPr>
              <a:t>Constrained</a:t>
            </a:r>
            <a:r>
              <a:rPr lang="sv-SE" sz="2200" dirty="0">
                <a:solidFill>
                  <a:schemeClr val="bg1"/>
                </a:solidFill>
              </a:rPr>
              <a:t> </a:t>
            </a:r>
            <a:r>
              <a:rPr lang="sv-SE" sz="2200" dirty="0" err="1">
                <a:solidFill>
                  <a:schemeClr val="bg1"/>
                </a:solidFill>
              </a:rPr>
              <a:t>Optimization</a:t>
            </a:r>
            <a:r>
              <a:rPr lang="sv-SE" sz="2200" dirty="0">
                <a:solidFill>
                  <a:schemeClr val="bg1"/>
                </a:solidFill>
              </a:rPr>
              <a:t> and Visual Risk </a:t>
            </a:r>
            <a:r>
              <a:rPr lang="sv-SE" sz="2200" dirty="0" err="1">
                <a:solidFill>
                  <a:schemeClr val="bg1"/>
                </a:solidFill>
              </a:rPr>
              <a:t>Profiling</a:t>
            </a:r>
            <a:r>
              <a:rPr lang="sv-SE" sz="2200" dirty="0">
                <a:solidFill>
                  <a:schemeClr val="bg1"/>
                </a:solidFill>
              </a:rPr>
              <a:t> for F1 Fantasy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C2C3DEA7-7F31-B76B-F647-4D33C14009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n-US" sz="1300" dirty="0">
                <a:solidFill>
                  <a:schemeClr val="bg1"/>
                </a:solidFill>
              </a:rPr>
              <a:t>Project in Visualization - 4DT911</a:t>
            </a:r>
          </a:p>
          <a:p>
            <a:pPr algn="l"/>
            <a:r>
              <a:rPr lang="en-US" sz="1300" dirty="0">
                <a:solidFill>
                  <a:schemeClr val="bg1"/>
                </a:solidFill>
              </a:rPr>
              <a:t>Jesper</a:t>
            </a:r>
          </a:p>
          <a:p>
            <a:pPr algn="l"/>
            <a:r>
              <a:rPr lang="en-US" sz="1300" dirty="0">
                <a:solidFill>
                  <a:schemeClr val="bg1"/>
                </a:solidFill>
              </a:rPr>
              <a:t>Emil</a:t>
            </a:r>
          </a:p>
          <a:p>
            <a:pPr algn="l"/>
            <a:r>
              <a:rPr lang="en-US" sz="1300" dirty="0">
                <a:solidFill>
                  <a:schemeClr val="bg1"/>
                </a:solidFill>
              </a:rPr>
              <a:t>Samuel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6461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900410"/>
            <a:ext cx="355600" cy="38100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95400" y="812800"/>
            <a:ext cx="946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2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Picking a team under a cost cap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12800" y="1879550"/>
            <a:ext cx="9156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2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</a:t>
            </a:r>
            <a:r>
              <a:rPr lang="en-US" sz="20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drivers + 2 constructors</a:t>
            </a:r>
            <a:r>
              <a:rPr lang="en-US" sz="2000" b="1" dirty="0">
                <a:solidFill>
                  <a:srgbClr val="F2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within the budget to maximize points, when every race outcome is uncertain.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12800" y="2844750"/>
            <a:ext cx="3386634" cy="1616621"/>
          </a:xfrm>
          <a:prstGeom prst="roundRect">
            <a:avLst>
              <a:gd name="adj" fmla="val 4714"/>
            </a:avLst>
          </a:prstGeom>
          <a:solidFill>
            <a:srgbClr val="242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12800" y="2844750"/>
            <a:ext cx="3386634" cy="1616621"/>
          </a:xfrm>
          <a:custGeom>
            <a:avLst/>
            <a:gdLst/>
            <a:ahLst/>
            <a:cxnLst/>
            <a:rect l="l" t="t" r="r" b="b"/>
            <a:pathLst>
              <a:path w="3386634" h="1616621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3310434" y="0"/>
                </a:lnTo>
                <a:arcTo wR="76200" hR="76200" stAng="16200000" swAng="5400000"/>
                <a:lnTo>
                  <a:pt x="3386634" y="76200"/>
                </a:lnTo>
                <a:arcTo wR="76200" hR="38100" stAng="0" swAng="-5400000"/>
                <a:lnTo>
                  <a:pt x="76200" y="38100"/>
                </a:lnTo>
                <a:arcTo wR="76200" hR="38100" stAng="16200000" swAng="-5400000"/>
                <a:close/>
              </a:path>
            </a:pathLst>
          </a:cu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66800" y="3136850"/>
            <a:ext cx="2964993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6800" y="3487341"/>
            <a:ext cx="2964993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cost cap, fixed roster shape and limited transfers per week.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02634" y="2844750"/>
            <a:ext cx="3386683" cy="1616621"/>
          </a:xfrm>
          <a:prstGeom prst="roundRect">
            <a:avLst>
              <a:gd name="adj" fmla="val 4714"/>
            </a:avLst>
          </a:prstGeom>
          <a:solidFill>
            <a:srgbClr val="242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02634" y="2844750"/>
            <a:ext cx="3386683" cy="1616621"/>
          </a:xfrm>
          <a:custGeom>
            <a:avLst/>
            <a:gdLst/>
            <a:ahLst/>
            <a:cxnLst/>
            <a:rect l="l" t="t" r="r" b="b"/>
            <a:pathLst>
              <a:path w="3386683" h="1616621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3310483" y="0"/>
                </a:lnTo>
                <a:arcTo wR="76200" hR="76200" stAng="16200000" swAng="5400000"/>
                <a:lnTo>
                  <a:pt x="3386683" y="76200"/>
                </a:lnTo>
                <a:arcTo wR="76200" hR="38100" stAng="0" swAng="-5400000"/>
                <a:lnTo>
                  <a:pt x="76200" y="38100"/>
                </a:lnTo>
                <a:arcTo wR="76200" hR="38100" stAng="16200000" swAng="-5400000"/>
                <a:close/>
              </a:path>
            </a:pathLst>
          </a:cu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56634" y="3136850"/>
            <a:ext cx="2965044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56634" y="3487341"/>
            <a:ext cx="2965044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Crashes, safety cars and weather make averages misleading.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92517" y="2844750"/>
            <a:ext cx="3386683" cy="1616621"/>
          </a:xfrm>
          <a:prstGeom prst="roundRect">
            <a:avLst>
              <a:gd name="adj" fmla="val 4714"/>
            </a:avLst>
          </a:prstGeom>
          <a:solidFill>
            <a:srgbClr val="242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992517" y="2844750"/>
            <a:ext cx="3386683" cy="1616621"/>
          </a:xfrm>
          <a:custGeom>
            <a:avLst/>
            <a:gdLst/>
            <a:ahLst/>
            <a:cxnLst/>
            <a:rect l="l" t="t" r="r" b="b"/>
            <a:pathLst>
              <a:path w="3386683" h="1616621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3310483" y="0"/>
                </a:lnTo>
                <a:arcTo wR="76200" hR="76200" stAng="16200000" swAng="5400000"/>
                <a:lnTo>
                  <a:pt x="3386683" y="76200"/>
                </a:lnTo>
                <a:arcTo wR="76200" hR="38100" stAng="0" swAng="-5400000"/>
                <a:lnTo>
                  <a:pt x="76200" y="38100"/>
                </a:lnTo>
                <a:arcTo wR="76200" hR="38100" stAng="16200000" swAng="-5400000"/>
                <a:close/>
              </a:path>
            </a:pathLst>
          </a:cu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46517" y="3136850"/>
            <a:ext cx="2965044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objectives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46517" y="3487341"/>
            <a:ext cx="2965044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points this week and the following weeks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2800" y="4766171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For:</a:t>
            </a:r>
            <a:r>
              <a:rPr lang="en-US" sz="140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F1 Fantasy managers · sports bettors · motorsport analysts and fans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900410"/>
            <a:ext cx="355600" cy="38100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95400" y="812800"/>
            <a:ext cx="52764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2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datasets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800" y="1879550"/>
            <a:ext cx="3386634" cy="2454077"/>
          </a:xfrm>
          <a:prstGeom prst="roundRect">
            <a:avLst>
              <a:gd name="adj" fmla="val 3105"/>
            </a:avLst>
          </a:prstGeom>
          <a:solidFill>
            <a:srgbClr val="242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12800" y="1879550"/>
            <a:ext cx="3386634" cy="2454077"/>
          </a:xfrm>
          <a:custGeom>
            <a:avLst/>
            <a:gdLst/>
            <a:ahLst/>
            <a:cxnLst/>
            <a:rect l="l" t="t" r="r" b="b"/>
            <a:pathLst>
              <a:path w="3386634" h="2454077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3310434" y="0"/>
                </a:lnTo>
                <a:arcTo wR="76200" hR="76200" stAng="16200000" swAng="5400000"/>
                <a:lnTo>
                  <a:pt x="3386634" y="76200"/>
                </a:lnTo>
                <a:arcTo wR="76200" hR="38100" stAng="0" swAng="-5400000"/>
                <a:lnTo>
                  <a:pt x="76200" y="38100"/>
                </a:lnTo>
                <a:arcTo wR="76200" hR="38100" stAng="16200000" swAng="-5400000"/>
                <a:close/>
              </a:path>
            </a:pathLst>
          </a:cu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66800" y="2171650"/>
            <a:ext cx="29649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66800" y="2486571"/>
            <a:ext cx="2964993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Ergast (Kaggle)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6800" y="2862461"/>
            <a:ext cx="2964993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6.5M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066800" y="3411091"/>
            <a:ext cx="2964993" cy="69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points in 14 linked tables: results, qualifying, lap times, pit stops, standings.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02634" y="1879550"/>
            <a:ext cx="3386683" cy="2454077"/>
          </a:xfrm>
          <a:prstGeom prst="roundRect">
            <a:avLst>
              <a:gd name="adj" fmla="val 3105"/>
            </a:avLst>
          </a:prstGeom>
          <a:solidFill>
            <a:srgbClr val="242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402634" y="1879550"/>
            <a:ext cx="3386683" cy="2454077"/>
          </a:xfrm>
          <a:custGeom>
            <a:avLst/>
            <a:gdLst/>
            <a:ahLst/>
            <a:cxnLst/>
            <a:rect l="l" t="t" r="r" b="b"/>
            <a:pathLst>
              <a:path w="3386683" h="2454077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3310483" y="0"/>
                </a:lnTo>
                <a:arcTo wR="76200" hR="76200" stAng="16200000" swAng="5400000"/>
                <a:lnTo>
                  <a:pt x="3386683" y="76200"/>
                </a:lnTo>
                <a:arcTo wR="76200" hR="38100" stAng="0" swAng="-5400000"/>
                <a:lnTo>
                  <a:pt x="76200" y="38100"/>
                </a:lnTo>
                <a:arcTo wR="76200" hR="38100" stAng="16200000" swAng="-5400000"/>
                <a:close/>
              </a:path>
            </a:pathLst>
          </a:cu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56634" y="2171650"/>
            <a:ext cx="29650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56634" y="2486571"/>
            <a:ext cx="2965044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Fantasy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56634" y="2862461"/>
            <a:ext cx="2965044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assets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656634" y="3411091"/>
            <a:ext cx="2965044" cy="69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drivers and 11 constructors: weekly price, points and ownership since 2022.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92517" y="1879550"/>
            <a:ext cx="3386683" cy="2454077"/>
          </a:xfrm>
          <a:prstGeom prst="roundRect">
            <a:avLst>
              <a:gd name="adj" fmla="val 3105"/>
            </a:avLst>
          </a:prstGeom>
          <a:solidFill>
            <a:srgbClr val="242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992517" y="1879550"/>
            <a:ext cx="3386683" cy="2454077"/>
          </a:xfrm>
          <a:custGeom>
            <a:avLst/>
            <a:gdLst/>
            <a:ahLst/>
            <a:cxnLst/>
            <a:rect l="l" t="t" r="r" b="b"/>
            <a:pathLst>
              <a:path w="3386683" h="2454077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3310483" y="0"/>
                </a:lnTo>
                <a:arcTo wR="76200" hR="76200" stAng="16200000" swAng="5400000"/>
                <a:lnTo>
                  <a:pt x="3386683" y="76200"/>
                </a:lnTo>
                <a:arcTo wR="76200" hR="38100" stAng="0" swAng="-5400000"/>
                <a:lnTo>
                  <a:pt x="76200" y="38100"/>
                </a:lnTo>
                <a:arcTo wR="76200" hR="38100" stAng="16200000" swAng="-5400000"/>
                <a:close/>
              </a:path>
            </a:pathLst>
          </a:cu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46517" y="2171650"/>
            <a:ext cx="29650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46517" y="2486571"/>
            <a:ext cx="2965044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OpenF1 API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46517" y="2862461"/>
            <a:ext cx="2965044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2.3M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8246517" y="3411091"/>
            <a:ext cx="2965044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points of session weather, sector splits, speed traps and pit flags.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12800" y="4638427"/>
            <a:ext cx="10566400" cy="586730"/>
          </a:xfrm>
          <a:prstGeom prst="roundRect">
            <a:avLst>
              <a:gd name="adj" fmla="val 12987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66800" y="4816227"/>
            <a:ext cx="305001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</a:t>
            </a:r>
            <a:r>
              <a:rPr lang="en-US" sz="130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2022 onward (</a:t>
            </a:r>
            <a:r>
              <a:rPr lang="en-US" sz="1300" dirty="0" err="1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Ergast</a:t>
            </a:r>
            <a:r>
              <a:rPr lang="en-US" sz="130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332784" y="4816227"/>
            <a:ext cx="348710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Joined on:</a:t>
            </a:r>
            <a:r>
              <a:rPr lang="en-US" sz="130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race_id · driver_id · constructor_id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B76313-EB15-0F09-0E9D-44BFB9902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3702973-1BD7-7A79-B1CE-4D24BDD7C68E}"/>
              </a:ext>
            </a:extLst>
          </p:cNvPr>
          <p:cNvSpPr/>
          <p:nvPr/>
        </p:nvSpPr>
        <p:spPr>
          <a:xfrm>
            <a:off x="812800" y="900410"/>
            <a:ext cx="355600" cy="38100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1216B9B-AE98-7BB1-3460-978D1D8366A7}"/>
              </a:ext>
            </a:extLst>
          </p:cNvPr>
          <p:cNvSpPr/>
          <p:nvPr/>
        </p:nvSpPr>
        <p:spPr>
          <a:xfrm>
            <a:off x="1295400" y="812800"/>
            <a:ext cx="9761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E97132"/>
                </a:solidFill>
                <a:latin typeface="Arial" pitchFamily="34" charset="0"/>
                <a:cs typeface="Arial" pitchFamily="34" charset="-120"/>
              </a:rPr>
              <a:t>GOALS</a:t>
            </a:r>
            <a:endParaRPr lang="en-US" sz="1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88CD841-CD25-C060-5569-4A7E15A1D21A}"/>
              </a:ext>
            </a:extLst>
          </p:cNvPr>
          <p:cNvSpPr/>
          <p:nvPr/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2EFEA"/>
                </a:solidFill>
                <a:latin typeface="Arial" pitchFamily="34" charset="0"/>
                <a:cs typeface="Arial" pitchFamily="34" charset="-120"/>
              </a:rPr>
              <a:t>Five Goals</a:t>
            </a:r>
            <a:endParaRPr lang="en-US" sz="3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B1909A0-7F80-15E6-6384-849DE5D5C28C}"/>
              </a:ext>
            </a:extLst>
          </p:cNvPr>
          <p:cNvSpPr/>
          <p:nvPr/>
        </p:nvSpPr>
        <p:spPr>
          <a:xfrm>
            <a:off x="723290" y="1918051"/>
            <a:ext cx="3386634" cy="1999431"/>
          </a:xfrm>
          <a:prstGeom prst="roundRect">
            <a:avLst>
              <a:gd name="adj" fmla="val 3105"/>
            </a:avLst>
          </a:prstGeom>
          <a:solidFill>
            <a:srgbClr val="242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B86CAB8-F887-B322-0E63-38E34BF13BA6}"/>
              </a:ext>
            </a:extLst>
          </p:cNvPr>
          <p:cNvSpPr/>
          <p:nvPr/>
        </p:nvSpPr>
        <p:spPr>
          <a:xfrm>
            <a:off x="723290" y="1918051"/>
            <a:ext cx="3386634" cy="2454077"/>
          </a:xfrm>
          <a:custGeom>
            <a:avLst/>
            <a:gdLst/>
            <a:ahLst/>
            <a:cxnLst/>
            <a:rect l="l" t="t" r="r" b="b"/>
            <a:pathLst>
              <a:path w="3386634" h="2454077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3310434" y="0"/>
                </a:lnTo>
                <a:arcTo wR="76200" hR="76200" stAng="16200000" swAng="5400000"/>
                <a:lnTo>
                  <a:pt x="3386634" y="76200"/>
                </a:lnTo>
                <a:arcTo wR="76200" hR="38100" stAng="0" swAng="-5400000"/>
                <a:lnTo>
                  <a:pt x="76200" y="38100"/>
                </a:lnTo>
                <a:arcTo wR="76200" hR="38100" stAng="16200000" swAng="-5400000"/>
                <a:close/>
              </a:path>
            </a:pathLst>
          </a:custGeom>
          <a:solidFill>
            <a:srgbClr val="E9713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A6A2833-228E-426D-67B6-437B93EECD82}"/>
              </a:ext>
            </a:extLst>
          </p:cNvPr>
          <p:cNvSpPr/>
          <p:nvPr/>
        </p:nvSpPr>
        <p:spPr>
          <a:xfrm>
            <a:off x="977290" y="2210151"/>
            <a:ext cx="29649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1</a:t>
            </a:r>
            <a:endParaRPr lang="en-US" sz="1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D28AD41-EA06-E5B7-AA8D-9F86BC2FA09B}"/>
              </a:ext>
            </a:extLst>
          </p:cNvPr>
          <p:cNvSpPr/>
          <p:nvPr/>
        </p:nvSpPr>
        <p:spPr>
          <a:xfrm>
            <a:off x="977290" y="2525072"/>
            <a:ext cx="2964993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Architecture</a:t>
            </a:r>
            <a:endParaRPr lang="en-US" sz="18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9E2E070-7AF7-6692-AC4A-D1240EBA0DED}"/>
              </a:ext>
            </a:extLst>
          </p:cNvPr>
          <p:cNvSpPr/>
          <p:nvPr/>
        </p:nvSpPr>
        <p:spPr>
          <a:xfrm>
            <a:off x="977290" y="2900962"/>
            <a:ext cx="2964993" cy="1242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755"/>
              </a:lnSpc>
            </a:pPr>
            <a:r>
              <a:rPr lang="en-US" sz="130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data pipeline</a:t>
            </a:r>
            <a:endParaRPr lang="en-US" sz="1300" dirty="0"/>
          </a:p>
        </p:txBody>
      </p:sp>
      <p:sp>
        <p:nvSpPr>
          <p:cNvPr id="26" name="Shape 3">
            <a:extLst>
              <a:ext uri="{FF2B5EF4-FFF2-40B4-BE49-F238E27FC236}">
                <a16:creationId xmlns:a16="http://schemas.microsoft.com/office/drawing/2014/main" id="{500B2B5E-18BC-4DEA-0A2B-394A56229E8E}"/>
              </a:ext>
            </a:extLst>
          </p:cNvPr>
          <p:cNvSpPr/>
          <p:nvPr/>
        </p:nvSpPr>
        <p:spPr>
          <a:xfrm>
            <a:off x="4516424" y="1918051"/>
            <a:ext cx="3386634" cy="1999431"/>
          </a:xfrm>
          <a:prstGeom prst="roundRect">
            <a:avLst>
              <a:gd name="adj" fmla="val 3105"/>
            </a:avLst>
          </a:prstGeom>
          <a:solidFill>
            <a:srgbClr val="242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4">
            <a:extLst>
              <a:ext uri="{FF2B5EF4-FFF2-40B4-BE49-F238E27FC236}">
                <a16:creationId xmlns:a16="http://schemas.microsoft.com/office/drawing/2014/main" id="{2BF4AD73-A651-EB84-61A6-C235DC5A09D3}"/>
              </a:ext>
            </a:extLst>
          </p:cNvPr>
          <p:cNvSpPr/>
          <p:nvPr/>
        </p:nvSpPr>
        <p:spPr>
          <a:xfrm>
            <a:off x="4516424" y="1918051"/>
            <a:ext cx="3386634" cy="2454077"/>
          </a:xfrm>
          <a:custGeom>
            <a:avLst/>
            <a:gdLst/>
            <a:ahLst/>
            <a:cxnLst/>
            <a:rect l="l" t="t" r="r" b="b"/>
            <a:pathLst>
              <a:path w="3386634" h="2454077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3310434" y="0"/>
                </a:lnTo>
                <a:arcTo wR="76200" hR="76200" stAng="16200000" swAng="5400000"/>
                <a:lnTo>
                  <a:pt x="3386634" y="76200"/>
                </a:lnTo>
                <a:arcTo wR="76200" hR="38100" stAng="0" swAng="-5400000"/>
                <a:lnTo>
                  <a:pt x="76200" y="38100"/>
                </a:lnTo>
                <a:arcTo wR="76200" hR="38100" stAng="16200000" swAng="-5400000"/>
                <a:close/>
              </a:path>
            </a:pathLst>
          </a:custGeom>
          <a:solidFill>
            <a:srgbClr val="E9713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CD8886F4-042B-6919-B929-EEF3A595E38C}"/>
              </a:ext>
            </a:extLst>
          </p:cNvPr>
          <p:cNvSpPr/>
          <p:nvPr/>
        </p:nvSpPr>
        <p:spPr>
          <a:xfrm>
            <a:off x="4770424" y="2210151"/>
            <a:ext cx="29649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2</a:t>
            </a:r>
            <a:endParaRPr lang="en-US" sz="1200" dirty="0"/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46DF0421-2ADE-3B63-5A42-8852994E5028}"/>
              </a:ext>
            </a:extLst>
          </p:cNvPr>
          <p:cNvSpPr/>
          <p:nvPr/>
        </p:nvSpPr>
        <p:spPr>
          <a:xfrm>
            <a:off x="4770424" y="2525072"/>
            <a:ext cx="2964993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Discovery</a:t>
            </a:r>
            <a:endParaRPr lang="en-US" sz="1800" dirty="0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7CB175E0-0031-293C-7F17-6E59BDF4F9D3}"/>
              </a:ext>
            </a:extLst>
          </p:cNvPr>
          <p:cNvSpPr/>
          <p:nvPr/>
        </p:nvSpPr>
        <p:spPr>
          <a:xfrm>
            <a:off x="4770424" y="2900962"/>
            <a:ext cx="2964993" cy="1242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charts and comparisons</a:t>
            </a:r>
            <a:endParaRPr lang="en-US" sz="1300" dirty="0"/>
          </a:p>
        </p:txBody>
      </p:sp>
      <p:sp>
        <p:nvSpPr>
          <p:cNvPr id="31" name="Shape 3">
            <a:extLst>
              <a:ext uri="{FF2B5EF4-FFF2-40B4-BE49-F238E27FC236}">
                <a16:creationId xmlns:a16="http://schemas.microsoft.com/office/drawing/2014/main" id="{A190C984-F0BA-9B3C-6573-EC3D95A3B29A}"/>
              </a:ext>
            </a:extLst>
          </p:cNvPr>
          <p:cNvSpPr/>
          <p:nvPr/>
        </p:nvSpPr>
        <p:spPr>
          <a:xfrm>
            <a:off x="8309558" y="1918051"/>
            <a:ext cx="3386634" cy="1999431"/>
          </a:xfrm>
          <a:prstGeom prst="roundRect">
            <a:avLst>
              <a:gd name="adj" fmla="val 3105"/>
            </a:avLst>
          </a:prstGeom>
          <a:solidFill>
            <a:srgbClr val="242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4">
            <a:extLst>
              <a:ext uri="{FF2B5EF4-FFF2-40B4-BE49-F238E27FC236}">
                <a16:creationId xmlns:a16="http://schemas.microsoft.com/office/drawing/2014/main" id="{C7B6014E-8B70-E7FD-3446-5FE9D5BAE730}"/>
              </a:ext>
            </a:extLst>
          </p:cNvPr>
          <p:cNvSpPr/>
          <p:nvPr/>
        </p:nvSpPr>
        <p:spPr>
          <a:xfrm>
            <a:off x="8309558" y="1918051"/>
            <a:ext cx="3386634" cy="2454077"/>
          </a:xfrm>
          <a:custGeom>
            <a:avLst/>
            <a:gdLst/>
            <a:ahLst/>
            <a:cxnLst/>
            <a:rect l="l" t="t" r="r" b="b"/>
            <a:pathLst>
              <a:path w="3386634" h="2454077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3310434" y="0"/>
                </a:lnTo>
                <a:arcTo wR="76200" hR="76200" stAng="16200000" swAng="5400000"/>
                <a:lnTo>
                  <a:pt x="3386634" y="76200"/>
                </a:lnTo>
                <a:arcTo wR="76200" hR="38100" stAng="0" swAng="-5400000"/>
                <a:lnTo>
                  <a:pt x="76200" y="38100"/>
                </a:lnTo>
                <a:arcTo wR="76200" hR="38100" stAng="16200000" swAng="-5400000"/>
                <a:close/>
              </a:path>
            </a:pathLst>
          </a:custGeom>
          <a:solidFill>
            <a:srgbClr val="E9713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3" name="Text 5">
            <a:extLst>
              <a:ext uri="{FF2B5EF4-FFF2-40B4-BE49-F238E27FC236}">
                <a16:creationId xmlns:a16="http://schemas.microsoft.com/office/drawing/2014/main" id="{9B40C588-8493-3852-931A-D955CD9A5213}"/>
              </a:ext>
            </a:extLst>
          </p:cNvPr>
          <p:cNvSpPr/>
          <p:nvPr/>
        </p:nvSpPr>
        <p:spPr>
          <a:xfrm>
            <a:off x="8563558" y="2210151"/>
            <a:ext cx="29649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3</a:t>
            </a:r>
            <a:endParaRPr lang="en-US" sz="1200" dirty="0"/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0C87B0F1-4177-8D17-1376-F264F7628D83}"/>
              </a:ext>
            </a:extLst>
          </p:cNvPr>
          <p:cNvSpPr/>
          <p:nvPr/>
        </p:nvSpPr>
        <p:spPr>
          <a:xfrm>
            <a:off x="8563558" y="2525072"/>
            <a:ext cx="2964993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Constrained Optimization</a:t>
            </a:r>
            <a:endParaRPr lang="en-US" sz="1800" dirty="0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BF62AA4B-7F6F-4BF5-8211-110CBA76D054}"/>
              </a:ext>
            </a:extLst>
          </p:cNvPr>
          <p:cNvSpPr/>
          <p:nvPr/>
        </p:nvSpPr>
        <p:spPr>
          <a:xfrm>
            <a:off x="8563558" y="2900962"/>
            <a:ext cx="2964993" cy="1242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C9C9C9"/>
                </a:solidFill>
                <a:latin typeface="Arial" pitchFamily="34" charset="0"/>
                <a:cs typeface="Arial" pitchFamily="34" charset="-120"/>
              </a:rPr>
              <a:t>Algorithmic lineup optimizer</a:t>
            </a:r>
            <a:endParaRPr lang="en-US" sz="1300" dirty="0"/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FE69709D-E5A8-508C-72F4-18FDA8081B7C}"/>
              </a:ext>
            </a:extLst>
          </p:cNvPr>
          <p:cNvSpPr/>
          <p:nvPr/>
        </p:nvSpPr>
        <p:spPr>
          <a:xfrm>
            <a:off x="2416607" y="4372128"/>
            <a:ext cx="3386634" cy="1999431"/>
          </a:xfrm>
          <a:prstGeom prst="roundRect">
            <a:avLst>
              <a:gd name="adj" fmla="val 3105"/>
            </a:avLst>
          </a:prstGeom>
          <a:solidFill>
            <a:srgbClr val="242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4">
            <a:extLst>
              <a:ext uri="{FF2B5EF4-FFF2-40B4-BE49-F238E27FC236}">
                <a16:creationId xmlns:a16="http://schemas.microsoft.com/office/drawing/2014/main" id="{C902DEB3-92AC-6E0E-5F38-C4526F198B57}"/>
              </a:ext>
            </a:extLst>
          </p:cNvPr>
          <p:cNvSpPr/>
          <p:nvPr/>
        </p:nvSpPr>
        <p:spPr>
          <a:xfrm>
            <a:off x="2416607" y="4372128"/>
            <a:ext cx="3386634" cy="2454077"/>
          </a:xfrm>
          <a:custGeom>
            <a:avLst/>
            <a:gdLst/>
            <a:ahLst/>
            <a:cxnLst/>
            <a:rect l="l" t="t" r="r" b="b"/>
            <a:pathLst>
              <a:path w="3386634" h="2454077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3310434" y="0"/>
                </a:lnTo>
                <a:arcTo wR="76200" hR="76200" stAng="16200000" swAng="5400000"/>
                <a:lnTo>
                  <a:pt x="3386634" y="76200"/>
                </a:lnTo>
                <a:arcTo wR="76200" hR="38100" stAng="0" swAng="-5400000"/>
                <a:lnTo>
                  <a:pt x="76200" y="38100"/>
                </a:lnTo>
                <a:arcTo wR="76200" hR="38100" stAng="16200000" swAng="-5400000"/>
                <a:close/>
              </a:path>
            </a:pathLst>
          </a:custGeom>
          <a:solidFill>
            <a:srgbClr val="E9713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8" name="Text 5">
            <a:extLst>
              <a:ext uri="{FF2B5EF4-FFF2-40B4-BE49-F238E27FC236}">
                <a16:creationId xmlns:a16="http://schemas.microsoft.com/office/drawing/2014/main" id="{1FE1DB2E-B0DD-E4DB-C05A-507348776A09}"/>
              </a:ext>
            </a:extLst>
          </p:cNvPr>
          <p:cNvSpPr/>
          <p:nvPr/>
        </p:nvSpPr>
        <p:spPr>
          <a:xfrm>
            <a:off x="2670607" y="4664228"/>
            <a:ext cx="29649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4</a:t>
            </a:r>
            <a:endParaRPr lang="en-US" sz="1200" dirty="0"/>
          </a:p>
        </p:txBody>
      </p:sp>
      <p:sp>
        <p:nvSpPr>
          <p:cNvPr id="39" name="Text 6">
            <a:extLst>
              <a:ext uri="{FF2B5EF4-FFF2-40B4-BE49-F238E27FC236}">
                <a16:creationId xmlns:a16="http://schemas.microsoft.com/office/drawing/2014/main" id="{321F4BE3-9E02-9245-19DE-96EFE4512C3B}"/>
              </a:ext>
            </a:extLst>
          </p:cNvPr>
          <p:cNvSpPr/>
          <p:nvPr/>
        </p:nvSpPr>
        <p:spPr>
          <a:xfrm>
            <a:off x="2670607" y="4979149"/>
            <a:ext cx="2964993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Profiling</a:t>
            </a:r>
            <a:endParaRPr lang="en-US" sz="1800" dirty="0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43D5DB08-EABF-1409-AD5F-1ABEA2857EAF}"/>
              </a:ext>
            </a:extLst>
          </p:cNvPr>
          <p:cNvSpPr/>
          <p:nvPr/>
        </p:nvSpPr>
        <p:spPr>
          <a:xfrm>
            <a:off x="2670607" y="5355039"/>
            <a:ext cx="2964993" cy="1242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755"/>
              </a:lnSpc>
            </a:pPr>
            <a:r>
              <a:rPr lang="en-US" sz="1300" dirty="0">
                <a:solidFill>
                  <a:srgbClr val="C9C9C9"/>
                </a:solidFill>
                <a:latin typeface="Arial" pitchFamily="34" charset="0"/>
                <a:cs typeface="Arial" pitchFamily="34" charset="-120"/>
              </a:rPr>
              <a:t>Floor (p</a:t>
            </a:r>
            <a:r>
              <a:rPr lang="en-US" sz="1300" baseline="-25000" dirty="0">
                <a:solidFill>
                  <a:srgbClr val="C9C9C9"/>
                </a:solidFill>
                <a:latin typeface="Arial" pitchFamily="34" charset="0"/>
                <a:cs typeface="Arial" pitchFamily="34" charset="-120"/>
              </a:rPr>
              <a:t>10</a:t>
            </a:r>
            <a:r>
              <a:rPr lang="en-US" sz="1300" dirty="0">
                <a:solidFill>
                  <a:srgbClr val="C9C9C9"/>
                </a:solidFill>
                <a:latin typeface="Arial" pitchFamily="34" charset="0"/>
                <a:cs typeface="Arial" pitchFamily="34" charset="-120"/>
              </a:rPr>
              <a:t>)</a:t>
            </a:r>
            <a:br>
              <a:rPr lang="en-US" sz="1300" dirty="0">
                <a:solidFill>
                  <a:srgbClr val="C9C9C9"/>
                </a:solidFill>
                <a:latin typeface="Arial" pitchFamily="34" charset="0"/>
                <a:cs typeface="Arial" pitchFamily="34" charset="-120"/>
              </a:rPr>
            </a:br>
            <a:r>
              <a:rPr lang="en-US" sz="1300" dirty="0">
                <a:solidFill>
                  <a:srgbClr val="C9C9C9"/>
                </a:solidFill>
                <a:latin typeface="Arial" pitchFamily="34" charset="0"/>
                <a:cs typeface="Arial" pitchFamily="34" charset="-120"/>
              </a:rPr>
              <a:t>Median (p</a:t>
            </a:r>
            <a:r>
              <a:rPr lang="en-US" sz="1300" baseline="-25000" dirty="0">
                <a:solidFill>
                  <a:srgbClr val="C9C9C9"/>
                </a:solidFill>
                <a:latin typeface="Arial" pitchFamily="34" charset="0"/>
                <a:cs typeface="Arial" pitchFamily="34" charset="-120"/>
              </a:rPr>
              <a:t>50</a:t>
            </a:r>
            <a:r>
              <a:rPr lang="en-US" sz="1300" dirty="0">
                <a:solidFill>
                  <a:srgbClr val="C9C9C9"/>
                </a:solidFill>
                <a:latin typeface="Arial" pitchFamily="34" charset="0"/>
                <a:cs typeface="Arial" pitchFamily="34" charset="-120"/>
              </a:rPr>
              <a:t>)</a:t>
            </a:r>
            <a:br>
              <a:rPr lang="en-US" sz="1300" dirty="0">
                <a:solidFill>
                  <a:srgbClr val="C9C9C9"/>
                </a:solidFill>
                <a:latin typeface="Arial" pitchFamily="34" charset="0"/>
                <a:cs typeface="Arial" pitchFamily="34" charset="-120"/>
              </a:rPr>
            </a:br>
            <a:r>
              <a:rPr lang="en-US" sz="1300" dirty="0">
                <a:solidFill>
                  <a:srgbClr val="C9C9C9"/>
                </a:solidFill>
                <a:latin typeface="Arial" pitchFamily="34" charset="0"/>
                <a:cs typeface="Arial" pitchFamily="34" charset="-120"/>
              </a:rPr>
              <a:t>Ceiling (p</a:t>
            </a:r>
            <a:r>
              <a:rPr lang="en-US" sz="1300" baseline="-25000" dirty="0">
                <a:solidFill>
                  <a:srgbClr val="C9C9C9"/>
                </a:solidFill>
                <a:latin typeface="Arial" pitchFamily="34" charset="0"/>
                <a:cs typeface="Arial" pitchFamily="34" charset="-120"/>
              </a:rPr>
              <a:t>90</a:t>
            </a:r>
            <a:r>
              <a:rPr lang="en-US" sz="1300" dirty="0">
                <a:solidFill>
                  <a:srgbClr val="C9C9C9"/>
                </a:solidFill>
                <a:latin typeface="Arial" pitchFamily="34" charset="0"/>
                <a:cs typeface="Arial" pitchFamily="34" charset="-120"/>
              </a:rPr>
              <a:t>)</a:t>
            </a:r>
            <a:endParaRPr lang="en-US" sz="1300" dirty="0"/>
          </a:p>
        </p:txBody>
      </p:sp>
      <p:sp>
        <p:nvSpPr>
          <p:cNvPr id="41" name="Shape 3">
            <a:extLst>
              <a:ext uri="{FF2B5EF4-FFF2-40B4-BE49-F238E27FC236}">
                <a16:creationId xmlns:a16="http://schemas.microsoft.com/office/drawing/2014/main" id="{B9060A40-81E8-34A7-B7BA-C35FF4A22462}"/>
              </a:ext>
            </a:extLst>
          </p:cNvPr>
          <p:cNvSpPr/>
          <p:nvPr/>
        </p:nvSpPr>
        <p:spPr>
          <a:xfrm>
            <a:off x="6209741" y="4372128"/>
            <a:ext cx="3386634" cy="1999431"/>
          </a:xfrm>
          <a:prstGeom prst="roundRect">
            <a:avLst>
              <a:gd name="adj" fmla="val 3105"/>
            </a:avLst>
          </a:prstGeom>
          <a:solidFill>
            <a:srgbClr val="242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">
            <a:extLst>
              <a:ext uri="{FF2B5EF4-FFF2-40B4-BE49-F238E27FC236}">
                <a16:creationId xmlns:a16="http://schemas.microsoft.com/office/drawing/2014/main" id="{F2604E20-F183-B353-5EAB-8BD7FA1CA046}"/>
              </a:ext>
            </a:extLst>
          </p:cNvPr>
          <p:cNvSpPr/>
          <p:nvPr/>
        </p:nvSpPr>
        <p:spPr>
          <a:xfrm>
            <a:off x="6209741" y="4372128"/>
            <a:ext cx="3386634" cy="2454077"/>
          </a:xfrm>
          <a:custGeom>
            <a:avLst/>
            <a:gdLst/>
            <a:ahLst/>
            <a:cxnLst/>
            <a:rect l="l" t="t" r="r" b="b"/>
            <a:pathLst>
              <a:path w="3386634" h="2454077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3310434" y="0"/>
                </a:lnTo>
                <a:arcTo wR="76200" hR="76200" stAng="16200000" swAng="5400000"/>
                <a:lnTo>
                  <a:pt x="3386634" y="76200"/>
                </a:lnTo>
                <a:arcTo wR="76200" hR="38100" stAng="0" swAng="-5400000"/>
                <a:lnTo>
                  <a:pt x="76200" y="38100"/>
                </a:lnTo>
                <a:arcTo wR="76200" hR="38100" stAng="16200000" swAng="-5400000"/>
                <a:close/>
              </a:path>
            </a:pathLst>
          </a:custGeom>
          <a:solidFill>
            <a:srgbClr val="E9713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3" name="Text 5">
            <a:extLst>
              <a:ext uri="{FF2B5EF4-FFF2-40B4-BE49-F238E27FC236}">
                <a16:creationId xmlns:a16="http://schemas.microsoft.com/office/drawing/2014/main" id="{D7863BB7-2141-D30B-0A99-B6424C397B6F}"/>
              </a:ext>
            </a:extLst>
          </p:cNvPr>
          <p:cNvSpPr/>
          <p:nvPr/>
        </p:nvSpPr>
        <p:spPr>
          <a:xfrm>
            <a:off x="6463741" y="4664228"/>
            <a:ext cx="29649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5</a:t>
            </a:r>
            <a:endParaRPr lang="en-US" sz="1200" dirty="0"/>
          </a:p>
        </p:txBody>
      </p:sp>
      <p:sp>
        <p:nvSpPr>
          <p:cNvPr id="44" name="Text 6">
            <a:extLst>
              <a:ext uri="{FF2B5EF4-FFF2-40B4-BE49-F238E27FC236}">
                <a16:creationId xmlns:a16="http://schemas.microsoft.com/office/drawing/2014/main" id="{9E58DDFB-350B-77CE-AEB5-F42EB31DFEC7}"/>
              </a:ext>
            </a:extLst>
          </p:cNvPr>
          <p:cNvSpPr/>
          <p:nvPr/>
        </p:nvSpPr>
        <p:spPr>
          <a:xfrm>
            <a:off x="6463741" y="4979149"/>
            <a:ext cx="3057652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b="1" dirty="0">
                <a:solidFill>
                  <a:srgbClr val="F2EFEA"/>
                </a:solidFill>
                <a:latin typeface="Arial" pitchFamily="34" charset="0"/>
                <a:cs typeface="Arial" pitchFamily="34" charset="-120"/>
              </a:rPr>
              <a:t>Dynamic Asset Comparison</a:t>
            </a:r>
            <a:endParaRPr lang="en-US" sz="1800" dirty="0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8F1F3548-A5E7-DF81-0697-B5F8843D872B}"/>
              </a:ext>
            </a:extLst>
          </p:cNvPr>
          <p:cNvSpPr/>
          <p:nvPr/>
        </p:nvSpPr>
        <p:spPr>
          <a:xfrm>
            <a:off x="6463741" y="5355039"/>
            <a:ext cx="2964993" cy="1242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C9C9C9"/>
                </a:solidFill>
                <a:latin typeface="Arial" pitchFamily="34" charset="0"/>
                <a:cs typeface="Arial" pitchFamily="34" charset="-120"/>
              </a:rPr>
              <a:t>Side-by-side comparison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069026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DC814B-78E9-6154-28B4-BABB7E709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69FD630-0029-108B-679B-4E70F78FF6CC}"/>
              </a:ext>
            </a:extLst>
          </p:cNvPr>
          <p:cNvSpPr/>
          <p:nvPr/>
        </p:nvSpPr>
        <p:spPr>
          <a:xfrm>
            <a:off x="812800" y="900410"/>
            <a:ext cx="355600" cy="38100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4A89703-DEFE-EBEE-6B6F-54B993C64083}"/>
              </a:ext>
            </a:extLst>
          </p:cNvPr>
          <p:cNvSpPr/>
          <p:nvPr/>
        </p:nvSpPr>
        <p:spPr>
          <a:xfrm>
            <a:off x="1295400" y="812800"/>
            <a:ext cx="9761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E97132"/>
                </a:solidFill>
                <a:latin typeface="Arial" pitchFamily="34" charset="0"/>
                <a:cs typeface="Arial" pitchFamily="34" charset="-120"/>
              </a:rPr>
              <a:t>DESIGN</a:t>
            </a:r>
            <a:endParaRPr lang="en-US" sz="1200" dirty="0"/>
          </a:p>
        </p:txBody>
      </p:sp>
      <p:pic>
        <p:nvPicPr>
          <p:cNvPr id="11" name="Bildobjekt 10">
            <a:extLst>
              <a:ext uri="{FF2B5EF4-FFF2-40B4-BE49-F238E27FC236}">
                <a16:creationId xmlns:a16="http://schemas.microsoft.com/office/drawing/2014/main" id="{89F2F4D6-CAD3-0A3F-F797-01DD2980D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1" y="1065536"/>
            <a:ext cx="7492524" cy="4671121"/>
          </a:xfrm>
          <a:prstGeom prst="rect">
            <a:avLst/>
          </a:prstGeom>
        </p:spPr>
      </p:pic>
      <p:sp>
        <p:nvSpPr>
          <p:cNvPr id="13" name="Text 4">
            <a:extLst>
              <a:ext uri="{FF2B5EF4-FFF2-40B4-BE49-F238E27FC236}">
                <a16:creationId xmlns:a16="http://schemas.microsoft.com/office/drawing/2014/main" id="{659AACC6-6CCE-6B7B-DB7A-481A0FEA63A1}"/>
              </a:ext>
            </a:extLst>
          </p:cNvPr>
          <p:cNvSpPr/>
          <p:nvPr/>
        </p:nvSpPr>
        <p:spPr>
          <a:xfrm>
            <a:off x="8800966" y="1645870"/>
            <a:ext cx="322098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Bubble Chart</a:t>
            </a:r>
            <a:endParaRPr lang="en-US" sz="14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7953C70D-13AC-F9B1-7DFA-DCDABAC78E9E}"/>
              </a:ext>
            </a:extLst>
          </p:cNvPr>
          <p:cNvSpPr/>
          <p:nvPr/>
        </p:nvSpPr>
        <p:spPr>
          <a:xfrm>
            <a:off x="8800966" y="1920161"/>
            <a:ext cx="3220987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C9C9C9"/>
                </a:solidFill>
                <a:latin typeface="Arial" pitchFamily="34" charset="0"/>
                <a:cs typeface="Arial" pitchFamily="34" charset="-120"/>
              </a:rPr>
              <a:t>PPM comparisons and expected points distribution</a:t>
            </a:r>
            <a:endParaRPr lang="en-US" sz="1200" dirty="0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BC8AF1AC-B6B5-3961-1C14-9DAF194430C9}"/>
              </a:ext>
            </a:extLst>
          </p:cNvPr>
          <p:cNvSpPr/>
          <p:nvPr/>
        </p:nvSpPr>
        <p:spPr>
          <a:xfrm>
            <a:off x="8800966" y="2509421"/>
            <a:ext cx="322098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EFEA"/>
                </a:solidFill>
                <a:latin typeface="Arial" pitchFamily="34" charset="0"/>
                <a:cs typeface="Arial" pitchFamily="34" charset="-120"/>
              </a:rPr>
              <a:t>Lineup Optimizer</a:t>
            </a:r>
            <a:endParaRPr lang="en-US" sz="1400" dirty="0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211D027-DDA7-0DBF-2781-5A24F374E099}"/>
              </a:ext>
            </a:extLst>
          </p:cNvPr>
          <p:cNvSpPr/>
          <p:nvPr/>
        </p:nvSpPr>
        <p:spPr>
          <a:xfrm>
            <a:off x="8800966" y="2783711"/>
            <a:ext cx="3220987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20"/>
              </a:lnSpc>
            </a:pPr>
            <a:r>
              <a:rPr lang="en-US" sz="120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your lineup from budget and risk slider</a:t>
            </a:r>
            <a:endParaRPr lang="en-US" sz="1200" dirty="0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D7260002-CAA0-FB0A-59A4-179A326B873F}"/>
              </a:ext>
            </a:extLst>
          </p:cNvPr>
          <p:cNvSpPr/>
          <p:nvPr/>
        </p:nvSpPr>
        <p:spPr>
          <a:xfrm>
            <a:off x="8800966" y="3372971"/>
            <a:ext cx="322098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Comparison</a:t>
            </a:r>
            <a:endParaRPr lang="en-US" sz="1400" dirty="0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441F1963-B3AD-13A4-24A8-E4AE5807FC05}"/>
              </a:ext>
            </a:extLst>
          </p:cNvPr>
          <p:cNvSpPr/>
          <p:nvPr/>
        </p:nvSpPr>
        <p:spPr>
          <a:xfrm>
            <a:off x="8800966" y="3647261"/>
            <a:ext cx="3220987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of three drivers on different performance metrics</a:t>
            </a:r>
            <a:endParaRPr lang="en-US" sz="1200" dirty="0"/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500E7BDF-0A06-04E8-95E8-C5ED8EDCF54B}"/>
              </a:ext>
            </a:extLst>
          </p:cNvPr>
          <p:cNvSpPr/>
          <p:nvPr/>
        </p:nvSpPr>
        <p:spPr>
          <a:xfrm>
            <a:off x="8800966" y="4236522"/>
            <a:ext cx="322098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EFEA"/>
                </a:solidFill>
                <a:latin typeface="Arial" pitchFamily="34" charset="0"/>
                <a:cs typeface="Arial" pitchFamily="34" charset="-120"/>
              </a:rPr>
              <a:t>Driver Info</a:t>
            </a:r>
            <a:endParaRPr lang="en-US" sz="1400" dirty="0"/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9BCAD516-E924-D8AC-1BC8-41A76B64E59C}"/>
              </a:ext>
            </a:extLst>
          </p:cNvPr>
          <p:cNvSpPr/>
          <p:nvPr/>
        </p:nvSpPr>
        <p:spPr>
          <a:xfrm>
            <a:off x="8800966" y="4510812"/>
            <a:ext cx="3220987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on a specific driver to get more information and statistics</a:t>
            </a:r>
            <a:endParaRPr lang="en-US" sz="1200" dirty="0"/>
          </a:p>
        </p:txBody>
      </p:sp>
      <p:sp>
        <p:nvSpPr>
          <p:cNvPr id="46" name="Text 13">
            <a:extLst>
              <a:ext uri="{FF2B5EF4-FFF2-40B4-BE49-F238E27FC236}">
                <a16:creationId xmlns:a16="http://schemas.microsoft.com/office/drawing/2014/main" id="{CB389691-CA29-C098-4DC5-CC2C17251EEF}"/>
              </a:ext>
            </a:extLst>
          </p:cNvPr>
          <p:cNvSpPr/>
          <p:nvPr/>
        </p:nvSpPr>
        <p:spPr>
          <a:xfrm>
            <a:off x="8800966" y="5029305"/>
            <a:ext cx="322098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EFEA"/>
                </a:solidFill>
                <a:latin typeface="Arial" pitchFamily="34" charset="0"/>
                <a:cs typeface="Arial" pitchFamily="34" charset="-120"/>
              </a:rPr>
              <a:t>Other data</a:t>
            </a:r>
            <a:endParaRPr lang="en-US" sz="1400" dirty="0"/>
          </a:p>
        </p:txBody>
      </p:sp>
      <p:sp>
        <p:nvSpPr>
          <p:cNvPr id="47" name="Text 14">
            <a:extLst>
              <a:ext uri="{FF2B5EF4-FFF2-40B4-BE49-F238E27FC236}">
                <a16:creationId xmlns:a16="http://schemas.microsoft.com/office/drawing/2014/main" id="{CCC4BDC0-166C-4D89-FE86-AB79A54FE3CF}"/>
              </a:ext>
            </a:extLst>
          </p:cNvPr>
          <p:cNvSpPr/>
          <p:nvPr/>
        </p:nvSpPr>
        <p:spPr>
          <a:xfrm>
            <a:off x="8800966" y="5303595"/>
            <a:ext cx="3220987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statistics and times for upcoming weekend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05377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043140-5378-4D88-8182-DC9A7DD68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A760DD2-5425-E081-B885-BD51058AD57C}"/>
              </a:ext>
            </a:extLst>
          </p:cNvPr>
          <p:cNvSpPr/>
          <p:nvPr/>
        </p:nvSpPr>
        <p:spPr>
          <a:xfrm>
            <a:off x="812800" y="900410"/>
            <a:ext cx="355600" cy="38100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DA97634-A1EA-FE6B-7375-A454DAA7DB4E}"/>
              </a:ext>
            </a:extLst>
          </p:cNvPr>
          <p:cNvSpPr/>
          <p:nvPr/>
        </p:nvSpPr>
        <p:spPr>
          <a:xfrm>
            <a:off x="1295399" y="812800"/>
            <a:ext cx="18809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E97132"/>
                </a:solidFill>
                <a:latin typeface="Arial" pitchFamily="34" charset="0"/>
                <a:cs typeface="Arial" pitchFamily="34" charset="-120"/>
              </a:rPr>
              <a:t>DATA PIPELINE</a:t>
            </a:r>
            <a:endParaRPr lang="en-US" sz="1200" dirty="0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B3E94CB1-C480-C76C-0675-A19864008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334" y="0"/>
            <a:ext cx="37153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286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54B2B0-ADD9-3B91-0182-BEE28C859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95B8B6D-E5BE-8D54-77F0-9E8E125EFAFD}"/>
              </a:ext>
            </a:extLst>
          </p:cNvPr>
          <p:cNvSpPr/>
          <p:nvPr/>
        </p:nvSpPr>
        <p:spPr>
          <a:xfrm>
            <a:off x="812800" y="900410"/>
            <a:ext cx="355600" cy="38100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F6F1BDA-9C10-159F-8797-69D4914E8702}"/>
              </a:ext>
            </a:extLst>
          </p:cNvPr>
          <p:cNvSpPr/>
          <p:nvPr/>
        </p:nvSpPr>
        <p:spPr>
          <a:xfrm>
            <a:off x="1295400" y="812800"/>
            <a:ext cx="19964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E97132"/>
                </a:solidFill>
                <a:latin typeface="Arial" pitchFamily="34" charset="0"/>
                <a:cs typeface="Arial" pitchFamily="34" charset="-120"/>
              </a:rPr>
              <a:t>RESPONSIBILITIES</a:t>
            </a:r>
            <a:endParaRPr lang="en-US" sz="1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163784F-89C9-994B-7EE2-0552D735707F}"/>
              </a:ext>
            </a:extLst>
          </p:cNvPr>
          <p:cNvSpPr/>
          <p:nvPr/>
        </p:nvSpPr>
        <p:spPr>
          <a:xfrm>
            <a:off x="812800" y="2437815"/>
            <a:ext cx="3386634" cy="1773090"/>
          </a:xfrm>
          <a:prstGeom prst="roundRect">
            <a:avLst>
              <a:gd name="adj" fmla="val 3105"/>
            </a:avLst>
          </a:prstGeom>
          <a:solidFill>
            <a:srgbClr val="242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FC3AC1F-3DB7-6357-62E7-D8D0468AA57A}"/>
              </a:ext>
            </a:extLst>
          </p:cNvPr>
          <p:cNvSpPr/>
          <p:nvPr/>
        </p:nvSpPr>
        <p:spPr>
          <a:xfrm>
            <a:off x="812800" y="2437815"/>
            <a:ext cx="3386634" cy="2454077"/>
          </a:xfrm>
          <a:custGeom>
            <a:avLst/>
            <a:gdLst/>
            <a:ahLst/>
            <a:cxnLst/>
            <a:rect l="l" t="t" r="r" b="b"/>
            <a:pathLst>
              <a:path w="3386634" h="2454077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3310434" y="0"/>
                </a:lnTo>
                <a:arcTo wR="76200" hR="76200" stAng="16200000" swAng="5400000"/>
                <a:lnTo>
                  <a:pt x="3386634" y="76200"/>
                </a:lnTo>
                <a:arcTo wR="76200" hR="38100" stAng="0" swAng="-5400000"/>
                <a:lnTo>
                  <a:pt x="76200" y="38100"/>
                </a:lnTo>
                <a:arcTo wR="76200" hR="38100" stAng="16200000" swAng="-5400000"/>
                <a:close/>
              </a:path>
            </a:pathLst>
          </a:cu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C14F9F2-9DA3-47E7-7406-8E1DCC461953}"/>
              </a:ext>
            </a:extLst>
          </p:cNvPr>
          <p:cNvSpPr/>
          <p:nvPr/>
        </p:nvSpPr>
        <p:spPr>
          <a:xfrm>
            <a:off x="1066800" y="3044836"/>
            <a:ext cx="2964993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Samuel Berg</a:t>
            </a:r>
            <a:endParaRPr lang="en-US" sz="18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F12ED9F-7FC8-4719-9E69-52F63B668DE1}"/>
              </a:ext>
            </a:extLst>
          </p:cNvPr>
          <p:cNvSpPr/>
          <p:nvPr/>
        </p:nvSpPr>
        <p:spPr>
          <a:xfrm>
            <a:off x="1066800" y="3516969"/>
            <a:ext cx="2964993" cy="69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200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DevOps, Backend</a:t>
            </a:r>
            <a:endParaRPr lang="en-US" sz="2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5C00E3B-F35E-8916-4F19-8743BFDEE09A}"/>
              </a:ext>
            </a:extLst>
          </p:cNvPr>
          <p:cNvSpPr/>
          <p:nvPr/>
        </p:nvSpPr>
        <p:spPr>
          <a:xfrm>
            <a:off x="4402634" y="2437815"/>
            <a:ext cx="3386683" cy="1773090"/>
          </a:xfrm>
          <a:prstGeom prst="roundRect">
            <a:avLst>
              <a:gd name="adj" fmla="val 3105"/>
            </a:avLst>
          </a:prstGeom>
          <a:solidFill>
            <a:srgbClr val="242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78DE7A6-E192-6845-73F0-5B1FC0C0AF82}"/>
              </a:ext>
            </a:extLst>
          </p:cNvPr>
          <p:cNvSpPr/>
          <p:nvPr/>
        </p:nvSpPr>
        <p:spPr>
          <a:xfrm>
            <a:off x="4402634" y="2437815"/>
            <a:ext cx="3386683" cy="2454077"/>
          </a:xfrm>
          <a:custGeom>
            <a:avLst/>
            <a:gdLst/>
            <a:ahLst/>
            <a:cxnLst/>
            <a:rect l="l" t="t" r="r" b="b"/>
            <a:pathLst>
              <a:path w="3386683" h="2454077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3310483" y="0"/>
                </a:lnTo>
                <a:arcTo wR="76200" hR="76200" stAng="16200000" swAng="5400000"/>
                <a:lnTo>
                  <a:pt x="3386683" y="76200"/>
                </a:lnTo>
                <a:arcTo wR="76200" hR="38100" stAng="0" swAng="-5400000"/>
                <a:lnTo>
                  <a:pt x="76200" y="38100"/>
                </a:lnTo>
                <a:arcTo wR="76200" hR="38100" stAng="16200000" swAng="-5400000"/>
                <a:close/>
              </a:path>
            </a:pathLst>
          </a:cu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004E495-F6B3-084E-1FF0-BE95213D368E}"/>
              </a:ext>
            </a:extLst>
          </p:cNvPr>
          <p:cNvSpPr/>
          <p:nvPr/>
        </p:nvSpPr>
        <p:spPr>
          <a:xfrm>
            <a:off x="4656634" y="3044836"/>
            <a:ext cx="2965044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Emil </a:t>
            </a:r>
            <a:r>
              <a:rPr lang="en-US" sz="1800" b="1" dirty="0" err="1">
                <a:solidFill>
                  <a:srgbClr val="F2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Ulvagården</a:t>
            </a:r>
            <a:endParaRPr lang="en-US" sz="1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F70C6CC-9476-D9C4-4F85-079F21BB522D}"/>
              </a:ext>
            </a:extLst>
          </p:cNvPr>
          <p:cNvSpPr/>
          <p:nvPr/>
        </p:nvSpPr>
        <p:spPr>
          <a:xfrm>
            <a:off x="4656634" y="3516969"/>
            <a:ext cx="2965044" cy="69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C9C9C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Fullstack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indent="0" algn="l">
              <a:lnSpc>
                <a:spcPts val="1755"/>
              </a:lnSpc>
              <a:buNone/>
            </a:pPr>
            <a:endParaRPr lang="en-US" sz="13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1F4E3BD-7AA8-54C4-3925-CBE25D2EA5B4}"/>
              </a:ext>
            </a:extLst>
          </p:cNvPr>
          <p:cNvSpPr/>
          <p:nvPr/>
        </p:nvSpPr>
        <p:spPr>
          <a:xfrm>
            <a:off x="7992517" y="2437815"/>
            <a:ext cx="3386683" cy="1773090"/>
          </a:xfrm>
          <a:prstGeom prst="roundRect">
            <a:avLst>
              <a:gd name="adj" fmla="val 3105"/>
            </a:avLst>
          </a:prstGeom>
          <a:solidFill>
            <a:srgbClr val="242424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0A673CA8-3DA3-0045-2A5D-912A7BCF2CCE}"/>
              </a:ext>
            </a:extLst>
          </p:cNvPr>
          <p:cNvSpPr/>
          <p:nvPr/>
        </p:nvSpPr>
        <p:spPr>
          <a:xfrm>
            <a:off x="7992517" y="2437815"/>
            <a:ext cx="3386683" cy="2454077"/>
          </a:xfrm>
          <a:custGeom>
            <a:avLst/>
            <a:gdLst/>
            <a:ahLst/>
            <a:cxnLst/>
            <a:rect l="l" t="t" r="r" b="b"/>
            <a:pathLst>
              <a:path w="3386683" h="2454077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3310483" y="0"/>
                </a:lnTo>
                <a:arcTo wR="76200" hR="76200" stAng="16200000" swAng="5400000"/>
                <a:lnTo>
                  <a:pt x="3386683" y="76200"/>
                </a:lnTo>
                <a:arcTo wR="76200" hR="38100" stAng="0" swAng="-5400000"/>
                <a:lnTo>
                  <a:pt x="76200" y="38100"/>
                </a:lnTo>
                <a:arcTo wR="76200" hR="38100" stAng="16200000" swAng="-5400000"/>
                <a:close/>
              </a:path>
            </a:pathLst>
          </a:custGeom>
          <a:solidFill>
            <a:srgbClr val="E97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B9A3D12-304B-2CFA-D1D0-99DA13D0E4A8}"/>
              </a:ext>
            </a:extLst>
          </p:cNvPr>
          <p:cNvSpPr/>
          <p:nvPr/>
        </p:nvSpPr>
        <p:spPr>
          <a:xfrm>
            <a:off x="8246517" y="3044836"/>
            <a:ext cx="2965044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b="1" dirty="0">
                <a:solidFill>
                  <a:srgbClr val="F2EFEA"/>
                </a:solidFill>
                <a:latin typeface="Arial" pitchFamily="34" charset="0"/>
                <a:cs typeface="Arial" pitchFamily="34" charset="-120"/>
              </a:rPr>
              <a:t>Jesper Wingren</a:t>
            </a:r>
            <a:endParaRPr lang="en-US" sz="18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50AB6EE1-C647-A24F-54A6-3053B8116468}"/>
              </a:ext>
            </a:extLst>
          </p:cNvPr>
          <p:cNvSpPr/>
          <p:nvPr/>
        </p:nvSpPr>
        <p:spPr>
          <a:xfrm>
            <a:off x="8246517" y="3516969"/>
            <a:ext cx="2965044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755"/>
              </a:lnSpc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9C9C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Machine Learning, Frontend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029345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1660</TotalTime>
  <Words>307</Words>
  <Application>Microsoft Macintosh PowerPoint</Application>
  <PresentationFormat>Bredbild</PresentationFormat>
  <Paragraphs>73</Paragraphs>
  <Slides>7</Slides>
  <Notes>6</Notes>
  <HiddenSlides>0</HiddenSlides>
  <MMClips>0</MMClips>
  <ScaleCrop>false</ScaleCrop>
  <HeadingPairs>
    <vt:vector size="6" baseType="variant">
      <vt:variant>
        <vt:lpstr>Använt teckensnitt</vt:lpstr>
      </vt:variant>
      <vt:variant>
        <vt:i4>4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Office-tema</vt:lpstr>
      <vt:lpstr>OptiGrid  Constrained Optimization and Visual Risk Profiling for F1 Fantasy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Jesper Wingren</dc:creator>
  <cp:lastModifiedBy>Jesper Wingren</cp:lastModifiedBy>
  <cp:revision>117</cp:revision>
  <dcterms:created xsi:type="dcterms:W3CDTF">2026-09-16T12:25:47Z</dcterms:created>
  <dcterms:modified xsi:type="dcterms:W3CDTF">2026-09-28T08:06:43Z</dcterms:modified>
</cp:coreProperties>
</file>